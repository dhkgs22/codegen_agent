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开场：老师们好，我的项目是多智能体代码助手，用 AI 自动完成写代码、运行、修Bug、写文档的整个闭环。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讲清楚为什么做：把写代码中重复、机械的部分交给多Agent协作完成。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核心创新是多Agent分工：每个Agent职责单一，通过Coordinator编排和事件流联动。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重点讲沙箱和安全设计，体现工程素养。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这里切到演示视频或现场demo，展示真实运行。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这是本项目最核心的亮点：Test Agent 测试失败时，通过协作消息反馈给 Debug Agent，Debug 修复后复用同一份测试复测，形成真实的跨 Agent 协作闭环——这正是『多智能体』而非『单 Agent 流水线』的关键证据。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用数据说话：25 个测试全过、Benchmark 10 个任务结果全对、CI 全绿，展示仓库地址和 CI 截图。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收尾：感谢老师，欢迎提问。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0" y="822960"/>
            <a:ext cx="146304" cy="14630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1170432"/>
            <a:ext cx="146304" cy="14630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26880" y="1517904"/>
            <a:ext cx="146304" cy="14630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0" y="475488"/>
            <a:ext cx="146304" cy="146304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0" y="822960"/>
            <a:ext cx="146304" cy="146304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0" y="1170432"/>
            <a:ext cx="146304" cy="146304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0" y="1517904"/>
            <a:ext cx="146304" cy="146304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0" y="1865376"/>
            <a:ext cx="146304" cy="146304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704319" y="822960"/>
            <a:ext cx="146304" cy="146304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704319" y="1170432"/>
            <a:ext cx="146304" cy="146304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704319" y="1517904"/>
            <a:ext cx="146304" cy="146304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9473184" y="548640"/>
            <a:ext cx="1042416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473184" y="896112"/>
            <a:ext cx="1042416" cy="0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73184" y="896112"/>
            <a:ext cx="1042416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73184" y="896112"/>
            <a:ext cx="1042416" cy="694944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73184" y="896112"/>
            <a:ext cx="1042416" cy="1042416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473184" y="548640"/>
            <a:ext cx="1042416" cy="694944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9473184" y="896112"/>
            <a:ext cx="1042416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473184" y="1243584"/>
            <a:ext cx="1042416" cy="0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473184" y="1243584"/>
            <a:ext cx="1042416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473184" y="1243584"/>
            <a:ext cx="1042416" cy="694944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9473184" y="548640"/>
            <a:ext cx="1042416" cy="1042416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473184" y="896112"/>
            <a:ext cx="1042416" cy="694944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473184" y="1243584"/>
            <a:ext cx="1042416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73184" y="1591056"/>
            <a:ext cx="1042416" cy="0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473184" y="1591056"/>
            <a:ext cx="1042416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661904" y="548640"/>
            <a:ext cx="1042415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661904" y="548640"/>
            <a:ext cx="1042415" cy="694944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661904" y="548640"/>
            <a:ext cx="1042415" cy="1042416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661904" y="896112"/>
            <a:ext cx="1042415" cy="0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661904" y="896112"/>
            <a:ext cx="1042415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661904" y="896112"/>
            <a:ext cx="1042415" cy="694944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0661904" y="896112"/>
            <a:ext cx="1042415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661904" y="1243584"/>
            <a:ext cx="1042415" cy="0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61904" y="1243584"/>
            <a:ext cx="1042415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0661904" y="896112"/>
            <a:ext cx="1042415" cy="694944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661904" y="1243584"/>
            <a:ext cx="1042415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661904" y="1591056"/>
            <a:ext cx="1042415" cy="0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0661904" y="896112"/>
            <a:ext cx="1042415" cy="1042416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0661904" y="1243584"/>
            <a:ext cx="1042415" cy="694944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0661904" y="1591056"/>
            <a:ext cx="1042415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144000" y="2002536"/>
            <a:ext cx="3047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A0A5BE"/>
                </a:solidFill>
                <a:latin typeface="微软雅黑"/>
              </a:rPr>
              <a:t>Multi-Agent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" y="4754880"/>
            <a:ext cx="1097280" cy="932688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83310" y="5062118"/>
            <a:ext cx="219456" cy="219456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366113" y="5062118"/>
            <a:ext cx="219456" cy="219456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14983" y="5413248"/>
            <a:ext cx="438912" cy="131673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76072" y="4996281"/>
            <a:ext cx="131673" cy="548640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764792" y="4996281"/>
            <a:ext cx="131673" cy="548640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0515600" y="4846320"/>
            <a:ext cx="1005840" cy="1005840"/>
          </a:xfrm>
          <a:prstGeom prst="roundRect">
            <a:avLst/>
          </a:prstGeom>
          <a:solidFill>
            <a:srgbClr val="282B50"/>
          </a:solidFill>
          <a:ln w="254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396728" y="5047488"/>
            <a:ext cx="118872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521440" y="5047488"/>
            <a:ext cx="118872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716768" y="4727448"/>
            <a:ext cx="45720" cy="1188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716768" y="5852160"/>
            <a:ext cx="45720" cy="1188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396728" y="5349240"/>
            <a:ext cx="118872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521440" y="5349240"/>
            <a:ext cx="118872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018520" y="4727448"/>
            <a:ext cx="45720" cy="1188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018520" y="5852160"/>
            <a:ext cx="45720" cy="1188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396728" y="5650992"/>
            <a:ext cx="118872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521440" y="5650992"/>
            <a:ext cx="118872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1320272" y="4727448"/>
            <a:ext cx="45720" cy="1188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320272" y="5852160"/>
            <a:ext cx="45720" cy="1188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4400" y="1920240"/>
            <a:ext cx="8138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5600" b="1">
                <a:solidFill>
                  <a:srgbClr val="FFFFFF"/>
                </a:solidFill>
                <a:latin typeface="微软雅黑"/>
              </a:rPr>
              <a:t>多智能体代码助手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" y="31546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2EC4B6"/>
                </a:solidFill>
                <a:latin typeface="微软雅黑"/>
              </a:rPr>
              <a:t>Coordinator + Code / Debug / Doc / Test Agent 多智能体协作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" y="37947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A0A5BE"/>
                </a:solidFill>
                <a:latin typeface="微软雅黑"/>
              </a:rPr>
              <a:t>2026 暑期 AI Agent 成长实践 · 项目 I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011680" y="5074920"/>
            <a:ext cx="1965960" cy="777240"/>
          </a:xfrm>
          <a:prstGeom prst="roundRect">
            <a:avLst>
              <a:gd name="adj" fmla="val 50000"/>
            </a:avLst>
          </a:prstGeom>
          <a:solidFill>
            <a:srgbClr val="1C1E3A"/>
          </a:solidFill>
          <a:ln w="2540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011680" y="5212080"/>
            <a:ext cx="1965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4A90D9"/>
                </a:solidFill>
                <a:latin typeface="微软雅黑"/>
              </a:rPr>
              <a:t>自动写代码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160520" y="5074920"/>
            <a:ext cx="1965960" cy="777240"/>
          </a:xfrm>
          <a:prstGeom prst="roundRect">
            <a:avLst>
              <a:gd name="adj" fmla="val 50000"/>
            </a:avLst>
          </a:prstGeom>
          <a:solidFill>
            <a:srgbClr val="1C1E3A"/>
          </a:solidFill>
          <a:ln w="25400">
            <a:solidFill>
              <a:srgbClr val="FF6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60520" y="5212080"/>
            <a:ext cx="1965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FF69B4"/>
                </a:solidFill>
                <a:latin typeface="微软雅黑"/>
              </a:rPr>
              <a:t>自动修 Bug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309360" y="5074920"/>
            <a:ext cx="1965960" cy="777240"/>
          </a:xfrm>
          <a:prstGeom prst="roundRect">
            <a:avLst>
              <a:gd name="adj" fmla="val 50000"/>
            </a:avLst>
          </a:prstGeom>
          <a:solidFill>
            <a:srgbClr val="1C1E3A"/>
          </a:solidFill>
          <a:ln w="254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9360" y="5212080"/>
            <a:ext cx="1965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2EC4B6"/>
                </a:solidFill>
                <a:latin typeface="微软雅黑"/>
              </a:rPr>
              <a:t>自动写文档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458200" y="5074920"/>
            <a:ext cx="1965960" cy="777240"/>
          </a:xfrm>
          <a:prstGeom prst="roundRect">
            <a:avLst>
              <a:gd name="adj" fmla="val 50000"/>
            </a:avLst>
          </a:prstGeom>
          <a:solidFill>
            <a:srgbClr val="1C1E3A"/>
          </a:solidFill>
          <a:ln w="25400">
            <a:solidFill>
              <a:srgbClr val="FF9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58200" y="5212080"/>
            <a:ext cx="1965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FF9248"/>
                </a:solidFill>
                <a:latin typeface="微软雅黑"/>
              </a:rPr>
              <a:t>自动测试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A0A5BE"/>
                </a:solidFill>
                <a:latin typeface="微软雅黑"/>
              </a:rPr>
              <a:t>汇报人：小明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822960" y="-914400"/>
            <a:ext cx="2194560" cy="2194560"/>
          </a:xfrm>
          <a:prstGeom prst="ellipse">
            <a:avLst/>
          </a:prstGeom>
          <a:solidFill>
            <a:srgbClr val="1E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0138" y="6083265"/>
            <a:ext cx="73152" cy="73152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305054" y="6280841"/>
            <a:ext cx="73152" cy="7315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84962" y="5987997"/>
            <a:ext cx="73152" cy="73152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06929" y="5953537"/>
            <a:ext cx="73152" cy="73152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80240" y="6366572"/>
            <a:ext cx="73152" cy="73152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8273" y="6200476"/>
            <a:ext cx="73152" cy="73152"/>
          </a:xfrm>
          <a:prstGeom prst="ellipse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09360"/>
            <a:ext cx="12191695" cy="27432"/>
          </a:xfrm>
          <a:prstGeom prst="rect">
            <a:avLst/>
          </a:prstGeom>
          <a:solidFill>
            <a:srgbClr val="3C4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软雅黑"/>
              </a:rPr>
              <a:t>项目背景与目标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2011680" cy="4572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0972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为什么做、做到什么程度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737360"/>
            <a:ext cx="4937760" cy="420624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FF9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737360"/>
            <a:ext cx="4937760" cy="91440"/>
          </a:xfrm>
          <a:prstGeom prst="roundRect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1965960"/>
            <a:ext cx="4389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背景：开发中的痛点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06039"/>
            <a:ext cx="4389120" cy="3200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每次写代码都要手动：写、跑、改、查文档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重复机械的操作占用大量时间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多工具切换，上下文断裂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希望用 AI 自动化这条流水线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73736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目标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2596896"/>
            <a:ext cx="146304" cy="146304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5146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4A90D9"/>
                </a:solidFill>
                <a:latin typeface="微软雅黑"/>
              </a:rPr>
              <a:t>一句话描述需求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852928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输入自然语言 → 自动生成可运行代码</a:t>
            </a:r>
          </a:p>
        </p:txBody>
      </p:sp>
      <p:sp>
        <p:nvSpPr>
          <p:cNvPr id="21" name="Oval 20"/>
          <p:cNvSpPr/>
          <p:nvPr/>
        </p:nvSpPr>
        <p:spPr>
          <a:xfrm>
            <a:off x="6217920" y="3648456"/>
            <a:ext cx="146304" cy="146304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5661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FF69B4"/>
                </a:solidFill>
                <a:latin typeface="微软雅黑"/>
              </a:rPr>
              <a:t>自动定位修复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904488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运行失败 → Debug Agent 自动修（至多 N 轮）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0" y="4700016"/>
            <a:ext cx="146304" cy="14630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461772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2EC4B6"/>
                </a:solidFill>
                <a:latin typeface="微软雅黑"/>
              </a:rPr>
              <a:t>自动写文档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956048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运行通过 → Doc Agent 生成 README</a:t>
            </a:r>
          </a:p>
        </p:txBody>
      </p:sp>
      <p:sp>
        <p:nvSpPr>
          <p:cNvPr id="27" name="Oval 26"/>
          <p:cNvSpPr/>
          <p:nvPr/>
        </p:nvSpPr>
        <p:spPr>
          <a:xfrm>
            <a:off x="6217920" y="5751576"/>
            <a:ext cx="146304" cy="146304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6692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9C78FF"/>
                </a:solidFill>
                <a:latin typeface="微软雅黑"/>
              </a:rPr>
              <a:t>全流程可视化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007608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事件流实时展示每个 Agent 的工作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20256"/>
            <a:ext cx="12191695" cy="27432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62940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>
                <a:solidFill>
                  <a:srgbClr val="A0A5BE"/>
                </a:solidFill>
                <a:latin typeface="微软雅黑"/>
              </a:rPr>
              <a:t>项目背景与目标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85855" y="6629400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A0A5BE"/>
                </a:solidFill>
                <a:latin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822960" y="-914400"/>
            <a:ext cx="2194560" cy="2194560"/>
          </a:xfrm>
          <a:prstGeom prst="ellipse">
            <a:avLst/>
          </a:prstGeom>
          <a:solidFill>
            <a:srgbClr val="1E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21570" y="5935641"/>
            <a:ext cx="73152" cy="7315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69759" y="6223951"/>
            <a:ext cx="73152" cy="73152"/>
          </a:xfrm>
          <a:prstGeom prst="ellipse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379752" y="6388207"/>
            <a:ext cx="73152" cy="73152"/>
          </a:xfrm>
          <a:prstGeom prst="ellipse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7987" y="5974891"/>
            <a:ext cx="73152" cy="73152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64907" y="6387562"/>
            <a:ext cx="73152" cy="73152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71291" y="6403283"/>
            <a:ext cx="73152" cy="73152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09360"/>
            <a:ext cx="12191695" cy="27432"/>
          </a:xfrm>
          <a:prstGeom prst="rect">
            <a:avLst/>
          </a:prstGeom>
          <a:solidFill>
            <a:srgbClr val="3C4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软雅黑"/>
              </a:rPr>
              <a:t>系统架构：多智能体编排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2011680" cy="4572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0972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Coordinator 统一调度 · 事件流贯穿全流程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1600200"/>
            <a:ext cx="4114800" cy="960120"/>
          </a:xfrm>
          <a:prstGeom prst="roundRect">
            <a:avLst>
              <a:gd name="adj" fmla="val 25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0" y="182880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900" b="1">
                <a:solidFill>
                  <a:srgbClr val="0D0D1E"/>
                </a:solidFill>
                <a:latin typeface="微软雅黑"/>
              </a:rPr>
              <a:t>Coordinator（总控编排）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57600"/>
            <a:ext cx="2514600" cy="1645920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31920"/>
            <a:ext cx="2514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Code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52628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2EC4B6"/>
                </a:solidFill>
                <a:latin typeface="微软雅黑"/>
              </a:rPr>
              <a:t>生成代码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9000" y="3657600"/>
            <a:ext cx="2514600" cy="1645920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FF6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29000" y="3931920"/>
            <a:ext cx="2514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Debug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452628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FF69B4"/>
                </a:solidFill>
                <a:latin typeface="微软雅黑"/>
              </a:rPr>
              <a:t>运行 + 自动修复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657600"/>
            <a:ext cx="2514600" cy="1645920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9C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931920"/>
            <a:ext cx="2514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Doc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52628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C78FF"/>
                </a:solidFill>
                <a:latin typeface="微软雅黑"/>
              </a:rPr>
              <a:t>生成 README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3657600"/>
            <a:ext cx="2514600" cy="1645920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FF9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06840" y="3931920"/>
            <a:ext cx="2514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Test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452628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FF9248"/>
                </a:solidFill>
                <a:latin typeface="微软雅黑"/>
              </a:rPr>
              <a:t>自动生成测试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901952" y="2560320"/>
            <a:ext cx="4178808" cy="1097280"/>
          </a:xfrm>
          <a:prstGeom prst="line">
            <a:avLst/>
          </a:prstGeom>
          <a:ln w="19050">
            <a:solidFill>
              <a:srgbClr val="6E78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4690872" y="2560320"/>
            <a:ext cx="1389888" cy="1097280"/>
          </a:xfrm>
          <a:prstGeom prst="line">
            <a:avLst/>
          </a:prstGeom>
          <a:ln w="19050">
            <a:solidFill>
              <a:srgbClr val="6E78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80760" y="2560320"/>
            <a:ext cx="1399032" cy="1097280"/>
          </a:xfrm>
          <a:prstGeom prst="line">
            <a:avLst/>
          </a:prstGeom>
          <a:ln w="19050">
            <a:solidFill>
              <a:srgbClr val="6E78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080760" y="2560320"/>
            <a:ext cx="4187952" cy="1097280"/>
          </a:xfrm>
          <a:prstGeom prst="line">
            <a:avLst/>
          </a:prstGeom>
          <a:ln w="19050">
            <a:solidFill>
              <a:srgbClr val="6E78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31520" y="5623560"/>
            <a:ext cx="10698480" cy="640080"/>
          </a:xfrm>
          <a:prstGeom prst="roundRect">
            <a:avLst>
              <a:gd name="adj" fmla="val 30000"/>
            </a:avLst>
          </a:prstGeom>
          <a:solidFill>
            <a:srgbClr val="282B50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事件流 EventBus 实时展示 · Test→Debug 协作回环：测试失败 → Debug 修复 → 复测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064240" y="502920"/>
            <a:ext cx="457200" cy="457200"/>
          </a:xfrm>
          <a:prstGeom prst="roundRect">
            <a:avLst/>
          </a:prstGeom>
          <a:solidFill>
            <a:srgbClr val="282B50"/>
          </a:solidFill>
          <a:ln w="25400">
            <a:solidFill>
              <a:srgbClr val="9C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945367" y="59436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521440" y="59436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155680" y="384048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155680" y="960120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945367" y="73152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521440" y="73152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292840" y="384048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292840" y="960120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945367" y="86868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521440" y="86868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430000" y="384048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430000" y="960120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620256"/>
            <a:ext cx="12191695" cy="27432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662940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>
                <a:solidFill>
                  <a:srgbClr val="A0A5BE"/>
                </a:solidFill>
                <a:latin typeface="微软雅黑"/>
              </a:rPr>
              <a:t>系统架构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85855" y="6629400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A0A5BE"/>
                </a:solidFill>
                <a:latin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822960" y="-914400"/>
            <a:ext cx="2194560" cy="2194560"/>
          </a:xfrm>
          <a:prstGeom prst="ellipse">
            <a:avLst/>
          </a:prstGeom>
          <a:solidFill>
            <a:srgbClr val="1E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51165" y="6313796"/>
            <a:ext cx="73152" cy="7315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1284" y="5894734"/>
            <a:ext cx="73152" cy="73152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66217" y="6037383"/>
            <a:ext cx="73152" cy="73152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46998" y="6195678"/>
            <a:ext cx="73152" cy="73152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1094" y="6381424"/>
            <a:ext cx="73152" cy="73152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637362" y="6445818"/>
            <a:ext cx="73152" cy="73152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09360"/>
            <a:ext cx="12191695" cy="27432"/>
          </a:xfrm>
          <a:prstGeom prst="rect">
            <a:avLst/>
          </a:prstGeom>
          <a:solidFill>
            <a:srgbClr val="3C4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软雅黑"/>
              </a:rPr>
              <a:t>核心技术实现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2011680" cy="4572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0972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四个关键设计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737360"/>
            <a:ext cx="5120640" cy="228600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737360"/>
            <a:ext cx="5120640" cy="91440"/>
          </a:xfrm>
          <a:prstGeom prst="round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196596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LLM 抽象层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06039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统一 chat 接口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DeepSeek 默认，可换 Claude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FakeClient 测试不花 token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737360"/>
            <a:ext cx="5120640" cy="228600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1737360"/>
            <a:ext cx="5120640" cy="9144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96596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沙箱执行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606039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subprocess 隔离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临时目录 + 超时保护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捕获输出 / 报错 / 退出码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06240"/>
            <a:ext cx="5120640" cy="228600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FF6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" y="4206240"/>
            <a:ext cx="5120640" cy="91440"/>
          </a:xfrm>
          <a:prstGeom prst="round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43484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修复循环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074920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失败 → 报错喂回 LLM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自动生成修复代码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至多 N 轮（默认 3）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4206240"/>
            <a:ext cx="5120640" cy="228600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9C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09360" y="4206240"/>
            <a:ext cx="5120640" cy="91440"/>
          </a:xfrm>
          <a:prstGeom prst="round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443484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安全设计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074920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API Key 存 .env 不入库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沙箱不装未知依赖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事件流全流程可观测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" y="6035040"/>
            <a:ext cx="457200" cy="457200"/>
          </a:xfrm>
          <a:prstGeom prst="roundRect">
            <a:avLst/>
          </a:prstGeom>
          <a:solidFill>
            <a:srgbClr val="282B50"/>
          </a:solidFill>
          <a:ln w="2540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5448" y="6126479"/>
            <a:ext cx="118872" cy="4572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6126479"/>
            <a:ext cx="118872" cy="4572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5916168"/>
            <a:ext cx="45720" cy="118872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6492240"/>
            <a:ext cx="45720" cy="118872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5448" y="6263640"/>
            <a:ext cx="118872" cy="4572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" y="6263640"/>
            <a:ext cx="118872" cy="4572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916168"/>
            <a:ext cx="45720" cy="118872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6492240"/>
            <a:ext cx="45720" cy="118872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5448" y="6400799"/>
            <a:ext cx="118872" cy="4572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520" y="6400799"/>
            <a:ext cx="118872" cy="4572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916168"/>
            <a:ext cx="45720" cy="118872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" y="6492240"/>
            <a:ext cx="45720" cy="118872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6620256"/>
            <a:ext cx="12191695" cy="27432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62940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>
                <a:solidFill>
                  <a:srgbClr val="A0A5BE"/>
                </a:solidFill>
                <a:latin typeface="微软雅黑"/>
              </a:rPr>
              <a:t>核心技术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85855" y="6629400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A0A5BE"/>
                </a:solidFill>
                <a:latin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822960" y="-914400"/>
            <a:ext cx="2194560" cy="2194560"/>
          </a:xfrm>
          <a:prstGeom prst="ellipse">
            <a:avLst/>
          </a:prstGeom>
          <a:solidFill>
            <a:srgbClr val="1E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89905" y="6081651"/>
            <a:ext cx="73152" cy="73152"/>
          </a:xfrm>
          <a:prstGeom prst="ellipse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569382" y="6325754"/>
            <a:ext cx="73152" cy="73152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0026" y="6150195"/>
            <a:ext cx="73152" cy="73152"/>
          </a:xfrm>
          <a:prstGeom prst="ellipse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93686" y="6428808"/>
            <a:ext cx="73152" cy="7315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38850" y="6408034"/>
            <a:ext cx="73152" cy="73152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58996" y="6219528"/>
            <a:ext cx="73152" cy="73152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09360"/>
            <a:ext cx="12191695" cy="27432"/>
          </a:xfrm>
          <a:prstGeom prst="rect">
            <a:avLst/>
          </a:prstGeom>
          <a:solidFill>
            <a:srgbClr val="3C4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软雅黑"/>
              </a:rPr>
              <a:t>功能演示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2011680" cy="4572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0972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三种使用方式 · 全流程可视化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737360"/>
            <a:ext cx="3383280" cy="320040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737360"/>
            <a:ext cx="3383280" cy="9144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1965960"/>
            <a:ext cx="2834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⌨ 命令行 CLI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06039"/>
            <a:ext cx="2834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python -m app.cli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"写一个斐波那契程序"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实时打印 Agent 过程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1737360"/>
            <a:ext cx="3383280" cy="320040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9C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89120" y="1737360"/>
            <a:ext cx="3383280" cy="91440"/>
          </a:xfrm>
          <a:prstGeom prst="round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1965960"/>
            <a:ext cx="2834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🌐 Web 界面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606039"/>
            <a:ext cx="2834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Streamlit 可视化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实时观看工作过程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事件流逐条渲染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737360"/>
            <a:ext cx="3383280" cy="320040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FF9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1737360"/>
            <a:ext cx="3383280" cy="91440"/>
          </a:xfrm>
          <a:prstGeom prst="roundRect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1965960"/>
            <a:ext cx="2834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⚡ API / SSE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606039"/>
            <a:ext cx="2834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POST /api/run 同步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GET /api/run/stream 流式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结构化事件推送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303520"/>
            <a:ext cx="10698480" cy="960120"/>
          </a:xfrm>
          <a:prstGeom prst="roundRect">
            <a:avLst>
              <a:gd name="adj" fmla="val 20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57784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0D0D1E"/>
                </a:solidFill>
                <a:latin typeface="微软雅黑"/>
              </a:rPr>
              <a:t>真实效果：生成 → 运行 → 修Bug → README，端到端 7.5 秒完成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698480" y="548640"/>
            <a:ext cx="822960" cy="699516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846612" y="779068"/>
            <a:ext cx="164592" cy="164592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208715" y="779068"/>
            <a:ext cx="164592" cy="164592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945367" y="1042416"/>
            <a:ext cx="329184" cy="98755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588752" y="729691"/>
            <a:ext cx="98755" cy="411480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503152" y="729691"/>
            <a:ext cx="98755" cy="411480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620256"/>
            <a:ext cx="12191695" cy="27432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62940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>
                <a:solidFill>
                  <a:srgbClr val="A0A5BE"/>
                </a:solidFill>
                <a:latin typeface="微软雅黑"/>
              </a:rPr>
              <a:t>功能演示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629400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A0A5BE"/>
                </a:solidFill>
                <a:latin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822960" y="-914400"/>
            <a:ext cx="2194560" cy="2194560"/>
          </a:xfrm>
          <a:prstGeom prst="ellipse">
            <a:avLst/>
          </a:prstGeom>
          <a:solidFill>
            <a:srgbClr val="1E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415127" y="6162620"/>
            <a:ext cx="73152" cy="73152"/>
          </a:xfrm>
          <a:prstGeom prst="ellipse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10034" y="5945341"/>
            <a:ext cx="73152" cy="73152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64895" y="6338448"/>
            <a:ext cx="73152" cy="73152"/>
          </a:xfrm>
          <a:prstGeom prst="ellipse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71759" y="5866171"/>
            <a:ext cx="73152" cy="73152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9475" y="6319306"/>
            <a:ext cx="73152" cy="73152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28573" y="6197323"/>
            <a:ext cx="73152" cy="73152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09360"/>
            <a:ext cx="12191695" cy="27432"/>
          </a:xfrm>
          <a:prstGeom prst="rect">
            <a:avLst/>
          </a:prstGeom>
          <a:solidFill>
            <a:srgbClr val="3C4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软雅黑"/>
              </a:rPr>
              <a:t>多智能体协作与 Harness 架构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2011680" cy="4572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0972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Harness 统一基础设施 · Test→Debug 协作回环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645920"/>
            <a:ext cx="5120640" cy="3931920"/>
          </a:xfrm>
          <a:prstGeom prst="roundRect">
            <a:avLst>
              <a:gd name="adj" fmla="val 15000"/>
            </a:avLst>
          </a:prstGeom>
          <a:solidFill>
            <a:srgbClr val="1C1E3A"/>
          </a:solidFill>
          <a:ln w="254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78308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2EC4B6"/>
                </a:solidFill>
                <a:latin typeface="微软雅黑"/>
              </a:rPr>
              <a:t>Harness 基础设施层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" y="2377440"/>
            <a:ext cx="2286000" cy="1188720"/>
          </a:xfrm>
          <a:prstGeom prst="roundRect">
            <a:avLst/>
          </a:prstGeom>
          <a:solidFill>
            <a:srgbClr val="282B50"/>
          </a:solidFill>
          <a:ln w="1905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48716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4A90D9"/>
                </a:solidFill>
                <a:latin typeface="微软雅黑"/>
              </a:rPr>
              <a:t>沙箱隔离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926080"/>
            <a:ext cx="2011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100" b="0">
                <a:solidFill>
                  <a:srgbClr val="A0A5BE"/>
                </a:solidFill>
                <a:latin typeface="微软雅黑"/>
              </a:rPr>
              <a:t>subprocess + 临时目录 + 超时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2377440"/>
            <a:ext cx="2286000" cy="1188720"/>
          </a:xfrm>
          <a:prstGeom prst="roundRect">
            <a:avLst/>
          </a:prstGeom>
          <a:solidFill>
            <a:srgbClr val="282B50"/>
          </a:solidFill>
          <a:ln w="19050">
            <a:solidFill>
              <a:srgbClr val="9C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248716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9C78FF"/>
                </a:solidFill>
                <a:latin typeface="微软雅黑"/>
              </a:rPr>
              <a:t>事件总线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926080"/>
            <a:ext cx="2011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100" b="0">
                <a:solidFill>
                  <a:srgbClr val="A0A5BE"/>
                </a:solidFill>
                <a:latin typeface="微软雅黑"/>
              </a:rPr>
              <a:t>EventBus 实时事件流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3703320"/>
            <a:ext cx="2286000" cy="1188720"/>
          </a:xfrm>
          <a:prstGeom prst="roundRect">
            <a:avLst/>
          </a:prstGeom>
          <a:solidFill>
            <a:srgbClr val="282B50"/>
          </a:solidFill>
          <a:ln w="19050">
            <a:solidFill>
              <a:srgbClr val="FF9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81304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FF9248"/>
                </a:solidFill>
                <a:latin typeface="微软雅黑"/>
              </a:rPr>
              <a:t>工具注册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251959"/>
            <a:ext cx="2011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100" b="0">
                <a:solidFill>
                  <a:srgbClr val="A0A5BE"/>
                </a:solidFill>
                <a:latin typeface="微软雅黑"/>
              </a:rPr>
              <a:t>ToolRegistry 沙箱能力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37560" y="3703320"/>
            <a:ext cx="2286000" cy="1188720"/>
          </a:xfrm>
          <a:prstGeom prst="roundRect">
            <a:avLst/>
          </a:prstGeom>
          <a:solidFill>
            <a:srgbClr val="282B50"/>
          </a:solidFill>
          <a:ln w="19050">
            <a:solidFill>
              <a:srgbClr val="FF6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0" y="381304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FF69B4"/>
                </a:solidFill>
                <a:latin typeface="微软雅黑"/>
              </a:rPr>
              <a:t>全局配置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251959"/>
            <a:ext cx="2011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100" b="0">
                <a:solidFill>
                  <a:srgbClr val="A0A5BE"/>
                </a:solidFill>
                <a:latin typeface="微软雅黑"/>
              </a:rPr>
              <a:t>Key / 轮次 / 超时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983480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100" b="0">
                <a:solidFill>
                  <a:srgbClr val="A0A5BE"/>
                </a:solidFill>
                <a:latin typeface="微软雅黑"/>
              </a:rPr>
              <a:t>Agent 不再各自建资源，统一从 Harness 获取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1645920"/>
            <a:ext cx="5166360" cy="3931920"/>
          </a:xfrm>
          <a:prstGeom prst="roundRect">
            <a:avLst>
              <a:gd name="adj" fmla="val 15000"/>
            </a:avLst>
          </a:prstGeom>
          <a:solidFill>
            <a:srgbClr val="1C1E3A"/>
          </a:solidFill>
          <a:ln w="25400">
            <a:solidFill>
              <a:srgbClr val="FF9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178308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9248"/>
                </a:solidFill>
                <a:latin typeface="微软雅黑"/>
              </a:rPr>
              <a:t>Test→Debug 协作回环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2651760"/>
            <a:ext cx="2011680" cy="914400"/>
          </a:xfrm>
          <a:prstGeom prst="roundRect">
            <a:avLst/>
          </a:prstGeom>
          <a:solidFill>
            <a:srgbClr val="282B50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2788920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Test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218688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100" b="0">
                <a:solidFill>
                  <a:srgbClr val="A0A5BE"/>
                </a:solidFill>
                <a:latin typeface="微软雅黑"/>
              </a:rPr>
              <a:t>生成测试并运行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2651760"/>
            <a:ext cx="2011680" cy="914400"/>
          </a:xfrm>
          <a:prstGeom prst="roundRect">
            <a:avLst/>
          </a:prstGeom>
          <a:solidFill>
            <a:srgbClr val="282B50"/>
          </a:solidFill>
          <a:ln w="19050">
            <a:solidFill>
              <a:srgbClr val="FF6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2788920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Debug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18688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100" b="0">
                <a:solidFill>
                  <a:srgbClr val="A0A5BE"/>
                </a:solidFill>
                <a:latin typeface="微软雅黑"/>
              </a:rPr>
              <a:t>按测试输出修复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224028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2EC4B6"/>
                </a:solidFill>
                <a:latin typeface="微软雅黑"/>
              </a:rPr>
              <a:t>🔁 协作消息（EV_MSG）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8595360" y="2999232"/>
            <a:ext cx="548640" cy="256032"/>
          </a:xfrm>
          <a:prstGeom prst="rightArrow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Left Arrow 37"/>
          <p:cNvSpPr/>
          <p:nvPr/>
        </p:nvSpPr>
        <p:spPr>
          <a:xfrm>
            <a:off x="8595360" y="3611880"/>
            <a:ext cx="548640" cy="256032"/>
          </a:xfrm>
          <a:prstGeom prst="leftArrow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0" y="3977639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FF69B4"/>
                </a:solidFill>
                <a:latin typeface="微软雅黑"/>
              </a:rPr>
              <a:t>复用同一份测试复测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4846320"/>
            <a:ext cx="4709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一个 Agent 发现问题，另一个 Agent 解决，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直至测试通过或达到最大回环轮次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5806440"/>
            <a:ext cx="10744200" cy="502920"/>
          </a:xfrm>
          <a:prstGeom prst="roundRect">
            <a:avLst>
              <a:gd name="adj" fmla="val 30000"/>
            </a:avLst>
          </a:prstGeom>
          <a:solidFill>
            <a:srgbClr val="282B50"/>
          </a:solidFill>
          <a:ln w="1905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5897880"/>
            <a:ext cx="10744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FFD166"/>
                </a:solidFill>
                <a:latin typeface="微软雅黑"/>
              </a:rPr>
              <a:t>多智能体 ≠ 流水线：Test 发现 Bug → 协作消息 → Debug 修复 → 复测通过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521440" y="502920"/>
            <a:ext cx="457200" cy="457200"/>
          </a:xfrm>
          <a:prstGeom prst="roundRect">
            <a:avLst/>
          </a:prstGeom>
          <a:solidFill>
            <a:srgbClr val="282B50"/>
          </a:solidFill>
          <a:ln w="254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402567" y="594360"/>
            <a:ext cx="118872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978640" y="594360"/>
            <a:ext cx="118872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612880" y="384048"/>
            <a:ext cx="45720" cy="1188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12880" y="960120"/>
            <a:ext cx="45720" cy="1188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02567" y="731520"/>
            <a:ext cx="118872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978640" y="731520"/>
            <a:ext cx="118872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750040" y="384048"/>
            <a:ext cx="45720" cy="1188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1750040" y="960120"/>
            <a:ext cx="45720" cy="1188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402567" y="868680"/>
            <a:ext cx="118872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978640" y="868680"/>
            <a:ext cx="118872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887200" y="384048"/>
            <a:ext cx="45720" cy="1188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887200" y="960120"/>
            <a:ext cx="45720" cy="1188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620256"/>
            <a:ext cx="12191695" cy="27432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662940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>
                <a:solidFill>
                  <a:srgbClr val="A0A5BE"/>
                </a:solidFill>
                <a:latin typeface="微软雅黑"/>
              </a:rPr>
              <a:t>多智能体协作与 Harness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85855" y="6629400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A0A5BE"/>
                </a:solidFill>
                <a:latin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822960" y="-914400"/>
            <a:ext cx="2194560" cy="2194560"/>
          </a:xfrm>
          <a:prstGeom prst="ellipse">
            <a:avLst/>
          </a:prstGeom>
          <a:solidFill>
            <a:srgbClr val="1E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415127" y="6162620"/>
            <a:ext cx="73152" cy="73152"/>
          </a:xfrm>
          <a:prstGeom prst="ellipse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10034" y="5945341"/>
            <a:ext cx="73152" cy="73152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64895" y="6338448"/>
            <a:ext cx="73152" cy="73152"/>
          </a:xfrm>
          <a:prstGeom prst="ellipse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71759" y="5866171"/>
            <a:ext cx="73152" cy="73152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9475" y="6319306"/>
            <a:ext cx="73152" cy="73152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28573" y="6197323"/>
            <a:ext cx="73152" cy="73152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09360"/>
            <a:ext cx="12191695" cy="27432"/>
          </a:xfrm>
          <a:prstGeom prst="rect">
            <a:avLst/>
          </a:prstGeom>
          <a:solidFill>
            <a:srgbClr val="3C4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软雅黑"/>
              </a:rPr>
              <a:t>成果与数据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2011680" cy="4572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0972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用数据证明项目可用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737360"/>
            <a:ext cx="5120640" cy="2286000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011679"/>
            <a:ext cx="4572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5000" b="1">
                <a:solidFill>
                  <a:srgbClr val="2EC4B6"/>
                </a:solidFill>
                <a:latin typeface="微软雅黑"/>
              </a:rP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834639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微软雅黑"/>
              </a:rPr>
              <a:t>pytest 测试全部通过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737360"/>
            <a:ext cx="5120640" cy="2286000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011679"/>
            <a:ext cx="4572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5000" b="1">
                <a:solidFill>
                  <a:srgbClr val="4A90D9"/>
                </a:solidFill>
                <a:latin typeface="微软雅黑"/>
              </a:rPr>
              <a:t>10/10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834639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微软雅黑"/>
              </a:rPr>
              <a:t>Benchmark 任务结果正确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206240"/>
            <a:ext cx="5120640" cy="1737360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FF6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480559"/>
            <a:ext cx="4572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5000" b="1">
                <a:solidFill>
                  <a:srgbClr val="FF69B4"/>
                </a:solidFill>
                <a:latin typeface="微软雅黑"/>
              </a:rPr>
              <a:t>9/10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0352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微软雅黑"/>
              </a:rPr>
              <a:t>自动测试通过率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206240"/>
            <a:ext cx="5120640" cy="1737360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9C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480559"/>
            <a:ext cx="4572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5000" b="1">
                <a:solidFill>
                  <a:srgbClr val="9C78FF"/>
                </a:solidFill>
                <a:latin typeface="微软雅黑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30352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微软雅黑"/>
              </a:rPr>
              <a:t>CI 全绿，推送自动验证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989320"/>
            <a:ext cx="10698480" cy="502920"/>
          </a:xfrm>
          <a:prstGeom prst="roundRect">
            <a:avLst>
              <a:gd name="adj" fmla="val 30000"/>
            </a:avLst>
          </a:prstGeom>
          <a:solidFill>
            <a:srgbClr val="282B50"/>
          </a:solidFill>
          <a:ln w="1905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0807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微软雅黑"/>
              </a:rPr>
              <a:t>工程规范：MIT License · CONTRIBUTING 贡献指南 · 三种入口全部实测可用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521440" y="6035040"/>
            <a:ext cx="457200" cy="457200"/>
          </a:xfrm>
          <a:prstGeom prst="roundRect">
            <a:avLst/>
          </a:prstGeom>
          <a:solidFill>
            <a:srgbClr val="282B50"/>
          </a:solidFill>
          <a:ln w="25400">
            <a:solidFill>
              <a:srgbClr val="FF6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02567" y="6126479"/>
            <a:ext cx="118872" cy="45720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978640" y="6126479"/>
            <a:ext cx="118872" cy="45720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612880" y="5916168"/>
            <a:ext cx="45720" cy="118872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612880" y="6492240"/>
            <a:ext cx="45720" cy="118872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02567" y="6263640"/>
            <a:ext cx="118872" cy="45720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978640" y="6263640"/>
            <a:ext cx="118872" cy="45720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750040" y="5916168"/>
            <a:ext cx="45720" cy="118872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750040" y="6492240"/>
            <a:ext cx="45720" cy="118872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02567" y="6400799"/>
            <a:ext cx="118872" cy="45720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978640" y="6400799"/>
            <a:ext cx="118872" cy="45720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887200" y="5916168"/>
            <a:ext cx="45720" cy="118872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887200" y="6492240"/>
            <a:ext cx="45720" cy="118872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620256"/>
            <a:ext cx="12191695" cy="27432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2940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>
                <a:solidFill>
                  <a:srgbClr val="A0A5BE"/>
                </a:solidFill>
                <a:latin typeface="微软雅黑"/>
              </a:rPr>
              <a:t>成果与数据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85855" y="6629400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A0A5BE"/>
                </a:solidFill>
                <a:latin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822960" y="-914400"/>
            <a:ext cx="2194560" cy="2194560"/>
          </a:xfrm>
          <a:prstGeom prst="ellipse">
            <a:avLst/>
          </a:prstGeom>
          <a:solidFill>
            <a:srgbClr val="1E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576314" y="6104878"/>
            <a:ext cx="73152" cy="73152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55625" y="6195167"/>
            <a:ext cx="73152" cy="73152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08957" y="6434443"/>
            <a:ext cx="73152" cy="73152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410895" y="6129727"/>
            <a:ext cx="73152" cy="7315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70982" y="6204874"/>
            <a:ext cx="73152" cy="73152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21398" y="5931403"/>
            <a:ext cx="73152" cy="73152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09360"/>
            <a:ext cx="12191695" cy="27432"/>
          </a:xfrm>
          <a:prstGeom prst="rect">
            <a:avLst/>
          </a:prstGeom>
          <a:solidFill>
            <a:srgbClr val="3C4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软雅黑"/>
              </a:rPr>
              <a:t>总结与展望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2011680" cy="4572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0972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一路收获，继续前行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737360"/>
            <a:ext cx="3383280" cy="320040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737360"/>
            <a:ext cx="3383280" cy="9144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1965960"/>
            <a:ext cx="2834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收获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06039"/>
            <a:ext cx="2834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多Agent 编排与协作回环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Harness 基础设施层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Benchmark 量化 10/10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1737360"/>
            <a:ext cx="3383280" cy="320040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FF9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89120" y="1737360"/>
            <a:ext cx="3383280" cy="91440"/>
          </a:xfrm>
          <a:prstGeom prst="roundRect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1965960"/>
            <a:ext cx="2834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不足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606039"/>
            <a:ext cx="2834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仅支持单文件 Python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修复质量依赖 LLM 能力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实时通信用 SSE 未上 WebSocket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737360"/>
            <a:ext cx="3383280" cy="320040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1737360"/>
            <a:ext cx="3383280" cy="91440"/>
          </a:xfrm>
          <a:prstGeom prst="round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1965960"/>
            <a:ext cx="2834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展望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606039"/>
            <a:ext cx="2834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WebSocket 实时双向推送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支持多文件与依赖安装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完整 tool-calling 工具调用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303520"/>
            <a:ext cx="10698480" cy="960120"/>
          </a:xfrm>
          <a:prstGeom prst="roundRect">
            <a:avLst>
              <a:gd name="adj" fmla="val 2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57784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0D0D1E"/>
                </a:solidFill>
                <a:latin typeface="微软雅黑"/>
              </a:rPr>
              <a:t>感谢聆听，敬请指正！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881360" y="457200"/>
            <a:ext cx="777240" cy="660653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021263" y="674827"/>
            <a:ext cx="155448" cy="155448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363248" y="674827"/>
            <a:ext cx="155448" cy="155448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114532" y="923544"/>
            <a:ext cx="310896" cy="93268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71632" y="628192"/>
            <a:ext cx="93268" cy="388620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640312" y="628192"/>
            <a:ext cx="93268" cy="388620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1521440" y="2743200"/>
            <a:ext cx="457200" cy="457200"/>
          </a:xfrm>
          <a:prstGeom prst="roundRect">
            <a:avLst/>
          </a:prstGeom>
          <a:solidFill>
            <a:srgbClr val="282B50"/>
          </a:solidFill>
          <a:ln w="25400">
            <a:solidFill>
              <a:srgbClr val="9C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02567" y="283464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978640" y="283464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612880" y="2624328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612880" y="3200400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02567" y="297180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978640" y="297180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750040" y="2624328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50040" y="3200400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02567" y="310896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978640" y="310896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887200" y="2624328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887200" y="3200400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620256"/>
            <a:ext cx="12191695" cy="27432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662940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>
                <a:solidFill>
                  <a:srgbClr val="A0A5BE"/>
                </a:solidFill>
                <a:latin typeface="微软雅黑"/>
              </a:rPr>
              <a:t>总结与展望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85855" y="6629400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A0A5BE"/>
                </a:solidFill>
                <a:latin typeface="微软雅黑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