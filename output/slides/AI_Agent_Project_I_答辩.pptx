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开场：老师们好，我的项目是多智能体代码助手，用 AI 自动完成写代码、运行、修Bug、写文档的整个闭环。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讲清楚为什么做：把写代码中重复、机械的部分交给多Agent协作完成。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核心创新是多Agent分工：每个Agent职责单一，通过Coordinator编排和事件流联动。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重点讲沙箱和安全设计，体现工程素养。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这里切到演示视频或现场demo，展示真实运行。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用数据说话，展示仓库地址和CI截图。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收尾：感谢老师，欢迎提问。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822960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1170432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1517904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0" y="475488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822960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0" y="1170432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0" y="1517904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1865376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704319" y="822960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704319" y="1170432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19" y="1517904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9473184" y="548640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473184" y="896112"/>
            <a:ext cx="1042416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73184" y="896112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73184" y="896112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73184" y="896112"/>
            <a:ext cx="1042416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473184" y="548640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473184" y="896112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73184" y="1243584"/>
            <a:ext cx="1042416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73184" y="1243584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473184" y="1243584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9473184" y="548640"/>
            <a:ext cx="1042416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473184" y="896112"/>
            <a:ext cx="1042416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473184" y="1243584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73184" y="1591056"/>
            <a:ext cx="1042416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473184" y="1591056"/>
            <a:ext cx="1042416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661904" y="548640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661904" y="548640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0661904" y="548640"/>
            <a:ext cx="1042415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661904" y="896112"/>
            <a:ext cx="1042415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661904" y="896112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661904" y="896112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661904" y="896112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661904" y="1243584"/>
            <a:ext cx="1042415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1904" y="1243584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0661904" y="896112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661904" y="1243584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661904" y="1591056"/>
            <a:ext cx="1042415" cy="0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0661904" y="896112"/>
            <a:ext cx="1042415" cy="1042416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0661904" y="1243584"/>
            <a:ext cx="1042415" cy="694944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661904" y="1591056"/>
            <a:ext cx="1042415" cy="347472"/>
          </a:xfrm>
          <a:prstGeom prst="line">
            <a:avLst/>
          </a:prstGeom>
          <a:ln w="9525">
            <a:solidFill>
              <a:srgbClr val="5A649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144000" y="2002536"/>
            <a:ext cx="3047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A0A5BE"/>
                </a:solidFill>
                <a:latin typeface="微软雅黑"/>
              </a:rPr>
              <a:t>Multi-Agent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4754880"/>
            <a:ext cx="1371600" cy="116586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61288" y="5138928"/>
            <a:ext cx="274320" cy="274320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764792" y="5138928"/>
            <a:ext cx="274320" cy="274320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325880" y="5577840"/>
            <a:ext cx="548640" cy="16459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04672" y="5056632"/>
            <a:ext cx="164592" cy="68580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267712" y="5056632"/>
            <a:ext cx="164592" cy="68580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515600" y="4846320"/>
            <a:ext cx="1005840" cy="100584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96728" y="5047488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521440" y="5047488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716768" y="47274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716768" y="585216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396728" y="534924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521440" y="5349240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018520" y="47274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018520" y="585216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396728" y="5650992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521440" y="5650992"/>
            <a:ext cx="118872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1320272" y="4727448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320272" y="5852160"/>
            <a:ext cx="45720" cy="1188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4400" y="19202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5600" b="1">
                <a:solidFill>
                  <a:srgbClr val="FFFFFF"/>
                </a:solidFill>
                <a:latin typeface="微软雅黑"/>
              </a:rPr>
              <a:t>多智能体代码助手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3154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2EC4B6"/>
                </a:solidFill>
                <a:latin typeface="微软雅黑"/>
              </a:rPr>
              <a:t>Coordinator + Code / Debug / Doc Agent 自动化流水线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A0A5BE"/>
                </a:solidFill>
                <a:latin typeface="微软雅黑"/>
              </a:rPr>
              <a:t>2026 暑期 AI Agent 成长实践 · 项目 I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51760" y="5074920"/>
            <a:ext cx="2194560" cy="777240"/>
          </a:xfrm>
          <a:prstGeom prst="roundRect">
            <a:avLst>
              <a:gd name="adj" fmla="val 50000"/>
            </a:avLst>
          </a:prstGeom>
          <a:solidFill>
            <a:srgbClr val="1C1E3A"/>
          </a:solidFill>
          <a:ln w="254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51760" y="52120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A90D9"/>
                </a:solidFill>
                <a:latin typeface="微软雅黑"/>
              </a:rPr>
              <a:t>自动写代码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394960" y="5074920"/>
            <a:ext cx="2194560" cy="777240"/>
          </a:xfrm>
          <a:prstGeom prst="roundRect">
            <a:avLst>
              <a:gd name="adj" fmla="val 50000"/>
            </a:avLst>
          </a:prstGeom>
          <a:solidFill>
            <a:srgbClr val="1C1E3A"/>
          </a:solidFill>
          <a:ln w="2540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94960" y="52120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F69B4"/>
                </a:solidFill>
                <a:latin typeface="微软雅黑"/>
              </a:rPr>
              <a:t>自动修 Bug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38160" y="5074920"/>
            <a:ext cx="2194560" cy="777240"/>
          </a:xfrm>
          <a:prstGeom prst="roundRect">
            <a:avLst>
              <a:gd name="adj" fmla="val 50000"/>
            </a:avLst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38160" y="5212080"/>
            <a:ext cx="2194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2EC4B6"/>
                </a:solidFill>
                <a:latin typeface="微软雅黑"/>
              </a:rPr>
              <a:t>自动写文档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A0A5BE"/>
                </a:solidFill>
                <a:latin typeface="微软雅黑"/>
              </a:rPr>
              <a:t>汇报人：小明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80138" y="6083265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05054" y="6280841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84962" y="5987997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06929" y="5953537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80240" y="6366572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78273" y="6200476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项目背景与目标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为什么做、做到什么程度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4937760" cy="420624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4937760" cy="91440"/>
          </a:xfrm>
          <a:prstGeom prst="roundRect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4389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背景：开发中的痛点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4389120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每次写代码都要手动：写、跑、改、查文档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重复机械的操作占用大量时间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多工具切换，上下文断裂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希望用 AI 自动化这条流水线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7373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目标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2596896"/>
            <a:ext cx="146304" cy="146304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5146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4A90D9"/>
                </a:solidFill>
                <a:latin typeface="微软雅黑"/>
              </a:rPr>
              <a:t>一句话描述需求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85292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输入自然语言 → 自动生成可运行代码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648456"/>
            <a:ext cx="146304" cy="146304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69B4"/>
                </a:solidFill>
                <a:latin typeface="微软雅黑"/>
              </a:rPr>
              <a:t>自动定位修复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0448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运行失败 → Debug Agent 自动修（至多 N 轮）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700016"/>
            <a:ext cx="146304" cy="146304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177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2EC4B6"/>
                </a:solidFill>
                <a:latin typeface="微软雅黑"/>
              </a:rPr>
              <a:t>自动写文档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95604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运行通过 → Doc Agent 生成 README</a:t>
            </a:r>
          </a:p>
        </p:txBody>
      </p:sp>
      <p:sp>
        <p:nvSpPr>
          <p:cNvPr id="27" name="Oval 26"/>
          <p:cNvSpPr/>
          <p:nvPr/>
        </p:nvSpPr>
        <p:spPr>
          <a:xfrm>
            <a:off x="6217920" y="5751576"/>
            <a:ext cx="146304" cy="146304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56692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9C78FF"/>
                </a:solidFill>
                <a:latin typeface="微软雅黑"/>
              </a:rPr>
              <a:t>全流程可视化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600760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事件流实时展示每个 Agent 的工作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项目背景与目标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21570" y="5935641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69759" y="6223951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79752" y="6388207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7987" y="597489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64907" y="6387562"/>
            <a:ext cx="73152" cy="73152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71291" y="6403283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系统架构：多智能体编排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Coordinator 统一调度 · 事件流贯穿全流程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1600200"/>
            <a:ext cx="4114800" cy="960120"/>
          </a:xfrm>
          <a:prstGeom prst="roundRect">
            <a:avLst>
              <a:gd name="adj" fmla="val 25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0" y="182880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0D0D1E"/>
                </a:solidFill>
                <a:latin typeface="微软雅黑"/>
              </a:rPr>
              <a:t>Coordinator（总控编排）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3657600"/>
            <a:ext cx="2651760" cy="164592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9319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Code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2EC4B6"/>
                </a:solidFill>
                <a:latin typeface="微软雅黑"/>
              </a:rPr>
              <a:t>生成代码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3657600"/>
            <a:ext cx="2651760" cy="164592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9319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Debug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5262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FF69B4"/>
                </a:solidFill>
                <a:latin typeface="微软雅黑"/>
              </a:rPr>
              <a:t>运行 + 自动修复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95360" y="3657600"/>
            <a:ext cx="2651760" cy="164592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39319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Doc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5262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C78FF"/>
                </a:solidFill>
                <a:latin typeface="微软雅黑"/>
              </a:rPr>
              <a:t>生成 README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331720" y="2560320"/>
            <a:ext cx="3749040" cy="1097280"/>
          </a:xfrm>
          <a:prstGeom prst="line">
            <a:avLst/>
          </a:prstGeom>
          <a:ln w="19050">
            <a:solidFill>
              <a:srgbClr val="6E78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80760" y="2560320"/>
            <a:ext cx="0" cy="1097280"/>
          </a:xfrm>
          <a:prstGeom prst="line">
            <a:avLst/>
          </a:prstGeom>
          <a:ln w="19050">
            <a:solidFill>
              <a:srgbClr val="6E78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2560320"/>
            <a:ext cx="3840480" cy="1097280"/>
          </a:xfrm>
          <a:prstGeom prst="line">
            <a:avLst/>
          </a:prstGeom>
          <a:ln w="19050">
            <a:solidFill>
              <a:srgbClr val="6E78A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1520" y="5623560"/>
            <a:ext cx="10698480" cy="640080"/>
          </a:xfrm>
          <a:prstGeom prst="roundRect">
            <a:avLst>
              <a:gd name="adj" fmla="val 30000"/>
            </a:avLst>
          </a:prstGeom>
          <a:solidFill>
            <a:srgbClr val="282B50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事件流 EventBus → CLI / SSE / Streamlit 实时展示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064240" y="50292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45367" y="5943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21440" y="5943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55680" y="38404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155680" y="96012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945367" y="73152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21440" y="73152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292840" y="38404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292840" y="96012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945367" y="86868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21440" y="86868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38404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430000" y="96012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系统架构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51165" y="6313796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61284" y="5894734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66217" y="6037383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46998" y="6195678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1094" y="6381424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37362" y="6445818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核心技术实现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四个关键设计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5120640" cy="9144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LLM 抽象层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统一 chat 接口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DeepSeek 默认，可换 Claude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FakeClient 测试不花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73736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1737360"/>
            <a:ext cx="5120640" cy="9144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96596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沙箱执行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06039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subprocess 隔离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临时目录 + 超时保护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捕获输出 / 报错 / 退出码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4206240"/>
            <a:ext cx="5120640" cy="91440"/>
          </a:xfrm>
          <a:prstGeom prst="round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3484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修复循环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07492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失败 → 报错喂回 LLM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自动生成修复代码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至多 N 轮（默认 3）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206240"/>
            <a:ext cx="5120640" cy="22860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09360" y="4206240"/>
            <a:ext cx="5120640" cy="91440"/>
          </a:xfrm>
          <a:prstGeom prst="round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5720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安全设计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07492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API Key 存 .env 不入库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沙箱不装未知依赖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事件流全流程可观测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" y="603504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5448" y="612647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612647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5916168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6492240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5448" y="6263640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6263640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916168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6492240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5448" y="640079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6400799"/>
            <a:ext cx="118872" cy="457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916168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6492240"/>
            <a:ext cx="45720" cy="118872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核心技术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89905" y="6081651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569382" y="6325754"/>
            <a:ext cx="73152" cy="73152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0026" y="6150195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93686" y="6428808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38850" y="6408034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58996" y="6219528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功能演示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三种使用方式 · 全流程可视化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3383280" cy="9144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⌨ 命令行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python -m app.cli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"写一个斐波那契程序"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实时打印 Agent 过程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1737360"/>
            <a:ext cx="3383280" cy="91440"/>
          </a:xfrm>
          <a:prstGeom prst="round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🌐 Web 界面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Streamlit 可视化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实时观看工作过程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事件流逐条渲染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1737360"/>
            <a:ext cx="3383280" cy="91440"/>
          </a:xfrm>
          <a:prstGeom prst="roundRect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⚡ API / SSE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POST /api/run 同步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GET /api/run/stream 流式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结构化事件推送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20"/>
            <a:ext cx="10698480" cy="960120"/>
          </a:xfrm>
          <a:prstGeom prst="roundRect">
            <a:avLst>
              <a:gd name="adj" fmla="val 2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0D0D1E"/>
                </a:solidFill>
                <a:latin typeface="微软雅黑"/>
              </a:rPr>
              <a:t>真实效果：生成 → 运行 → 修Bug → README，端到端 7.5 秒完成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698480" y="548640"/>
            <a:ext cx="822960" cy="699516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846612" y="779068"/>
            <a:ext cx="164592" cy="16459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208715" y="779068"/>
            <a:ext cx="164592" cy="16459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945367" y="1042416"/>
            <a:ext cx="329184" cy="98755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588752" y="729691"/>
            <a:ext cx="98755" cy="41148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03152" y="729691"/>
            <a:ext cx="98755" cy="41148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功能演示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415127" y="6162620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10034" y="594534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64895" y="6338448"/>
            <a:ext cx="73152" cy="73152"/>
          </a:xfrm>
          <a:prstGeom prst="ellipse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71759" y="5866171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9475" y="6319306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528573" y="6197323"/>
            <a:ext cx="73152" cy="73152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成果与数据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用数据证明项目可用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5120640" cy="228600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011679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2EC4B6"/>
                </a:solidFill>
                <a:latin typeface="微软雅黑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39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pytest 测试全部通过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737360"/>
            <a:ext cx="5120640" cy="228600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011679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4A90D9"/>
                </a:solidFill>
                <a:latin typeface="微软雅黑"/>
              </a:rPr>
              <a:t>7.5s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39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端到端真实运行耗时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206240"/>
            <a:ext cx="5120640" cy="173736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80559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9C78FF"/>
                </a:solidFill>
                <a:latin typeface="微软雅黑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CI 全绿，推送自动验证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206240"/>
            <a:ext cx="5120640" cy="1737360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480559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000" b="1">
                <a:solidFill>
                  <a:srgbClr val="FF9248"/>
                </a:solidFill>
                <a:latin typeface="微软雅黑"/>
              </a:rPr>
              <a:t>v1.0.0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GitHub Release 已发布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989320"/>
            <a:ext cx="10698480" cy="502920"/>
          </a:xfrm>
          <a:prstGeom prst="roundRect">
            <a:avLst>
              <a:gd name="adj" fmla="val 30000"/>
            </a:avLst>
          </a:prstGeom>
          <a:solidFill>
            <a:srgbClr val="282B50"/>
          </a:solidFill>
          <a:ln w="19050">
            <a:solidFill>
              <a:srgbClr val="FFD1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0807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微软雅黑"/>
              </a:rPr>
              <a:t>工程规范：MIT License · CONTRIBUTING 贡献指南 · 三种入口全部实测可用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521440" y="603504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FF6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02567" y="612647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978640" y="612647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612880" y="5916168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612880" y="6492240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02567" y="6263640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978640" y="6263640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750040" y="5916168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750040" y="6492240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02567" y="640079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978640" y="6400799"/>
            <a:ext cx="118872" cy="45720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87200" y="5916168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887200" y="6492240"/>
            <a:ext cx="45720" cy="118872"/>
          </a:xfrm>
          <a:prstGeom prst="rect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成果与数据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822960" y="-914400"/>
            <a:ext cx="2194560" cy="2194560"/>
          </a:xfrm>
          <a:prstGeom prst="ellipse">
            <a:avLst/>
          </a:prstGeom>
          <a:solidFill>
            <a:srgbClr val="1E22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576314" y="6104878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55625" y="6195167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08957" y="6434443"/>
            <a:ext cx="73152" cy="73152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10895" y="6129727"/>
            <a:ext cx="73152" cy="7315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70982" y="6204874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21398" y="5931403"/>
            <a:ext cx="73152" cy="73152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309360"/>
            <a:ext cx="12191695" cy="27432"/>
          </a:xfrm>
          <a:prstGeom prst="rect">
            <a:avLst/>
          </a:prstGeom>
          <a:solidFill>
            <a:srgbClr val="3C4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软雅黑"/>
              </a:rPr>
              <a:t>总结与展望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011680" cy="4572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10972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A0A5BE"/>
                </a:solidFill>
                <a:latin typeface="微软雅黑"/>
              </a:rPr>
              <a:t>一路收获，继续前行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1737360"/>
            <a:ext cx="3383280" cy="91440"/>
          </a:xfrm>
          <a:prstGeom prst="round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收获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多Agent 编排与事件驱动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沙箱隔离 / LLM 抽象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完整工程化交付经验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FF9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1737360"/>
            <a:ext cx="3383280" cy="91440"/>
          </a:xfrm>
          <a:prstGeom prst="roundRect">
            <a:avLst/>
          </a:prstGeom>
          <a:solidFill>
            <a:srgbClr val="FF9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不足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仅支持单文件 Python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修复质量依赖 LLM 能力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缺少系统 Benchmark 统计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737360"/>
            <a:ext cx="3383280" cy="3200400"/>
          </a:xfrm>
          <a:prstGeom prst="roundRect">
            <a:avLst/>
          </a:prstGeom>
          <a:solidFill>
            <a:srgbClr val="1C1E3A"/>
          </a:solidFill>
          <a:ln w="15240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1737360"/>
            <a:ext cx="3383280" cy="91440"/>
          </a:xfrm>
          <a:prstGeom prst="round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965960"/>
            <a:ext cx="2834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606039"/>
            <a:ext cx="2834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支持多文件与依赖安装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新增测试生成 Agent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0">
                <a:solidFill>
                  <a:srgbClr val="A0A5BE"/>
                </a:solidFill>
                <a:latin typeface="微软雅黑"/>
              </a:rPr>
              <a:t>建立成功率量化评估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20"/>
            <a:ext cx="10698480" cy="960120"/>
          </a:xfrm>
          <a:prstGeom prst="roundRect">
            <a:avLst>
              <a:gd name="adj" fmla="val 2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0D0D1E"/>
                </a:solidFill>
                <a:latin typeface="微软雅黑"/>
              </a:rPr>
              <a:t>感谢聆听，敬请指正！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81360" y="457200"/>
            <a:ext cx="777240" cy="660653"/>
          </a:xfrm>
          <a:prstGeom prst="roundRect">
            <a:avLst/>
          </a:prstGeom>
          <a:solidFill>
            <a:srgbClr val="1C1E3A"/>
          </a:solidFill>
          <a:ln w="254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021263" y="674827"/>
            <a:ext cx="155448" cy="155448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363248" y="674827"/>
            <a:ext cx="155448" cy="155448"/>
          </a:xfrm>
          <a:prstGeom prst="ellipse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114532" y="923544"/>
            <a:ext cx="310896" cy="93268"/>
          </a:xfrm>
          <a:prstGeom prst="ellipse">
            <a:avLst/>
          </a:prstGeom>
          <a:solidFill>
            <a:srgbClr val="FF69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71632" y="628192"/>
            <a:ext cx="93268" cy="38862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640312" y="628192"/>
            <a:ext cx="93268" cy="388620"/>
          </a:xfrm>
          <a:prstGeom prst="ellipse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521440" y="2743200"/>
            <a:ext cx="457200" cy="457200"/>
          </a:xfrm>
          <a:prstGeom prst="roundRect">
            <a:avLst/>
          </a:prstGeom>
          <a:solidFill>
            <a:srgbClr val="282B50"/>
          </a:solidFill>
          <a:ln w="25400">
            <a:solidFill>
              <a:srgbClr val="9C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02567" y="283464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978640" y="283464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612880" y="262432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612880" y="320040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02567" y="297180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978640" y="297180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750040" y="262432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50040" y="320040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02567" y="31089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978640" y="3108960"/>
            <a:ext cx="118872" cy="45720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887200" y="2624328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887200" y="3200400"/>
            <a:ext cx="45720" cy="118872"/>
          </a:xfrm>
          <a:prstGeom prst="rect">
            <a:avLst/>
          </a:prstGeom>
          <a:solidFill>
            <a:srgbClr val="9C7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20256"/>
            <a:ext cx="12191695" cy="27432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62940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000" b="0">
                <a:solidFill>
                  <a:srgbClr val="A0A5BE"/>
                </a:solidFill>
                <a:latin typeface="微软雅黑"/>
              </a:rPr>
              <a:t>总结与展望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85855" y="6629400"/>
            <a:ext cx="731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200" b="0">
                <a:solidFill>
                  <a:srgbClr val="A0A5BE"/>
                </a:solidFill>
                <a:latin typeface="微软雅黑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